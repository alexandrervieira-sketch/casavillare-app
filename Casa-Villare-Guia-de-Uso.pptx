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78B6D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640080"/>
            <a:ext cx="640080" cy="640080"/>
          </a:xfrm>
          <a:prstGeom prst="rect">
            <a:avLst/>
          </a:prstGeom>
          <a:ln w="9525">
            <a:solidFill>
              <a:srgbClr val="BFA87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640080"/>
            <a:ext cx="640080" cy="640080"/>
          </a:xfrm>
          <a:prstGeom prst="rect">
            <a:avLst/>
          </a:prstGeom>
          <a:ln w="9525">
            <a:solidFill>
              <a:srgbClr val="BFA87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47120" y="640080"/>
            <a:ext cx="640080" cy="640080"/>
          </a:xfrm>
          <a:prstGeom prst="rect">
            <a:avLst/>
          </a:prstGeom>
          <a:ln w="9525">
            <a:solidFill>
              <a:srgbClr val="BFA8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0" y="1508760"/>
            <a:ext cx="640080" cy="640080"/>
          </a:xfrm>
          <a:prstGeom prst="rect">
            <a:avLst/>
          </a:prstGeom>
          <a:ln w="9525">
            <a:solidFill>
              <a:srgbClr val="BFA87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78440" y="1508760"/>
            <a:ext cx="640080" cy="640080"/>
          </a:xfrm>
          <a:prstGeom prst="rect">
            <a:avLst/>
          </a:prstGeom>
          <a:ln w="9525">
            <a:solidFill>
              <a:srgbClr val="BFA87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47120" y="1508760"/>
            <a:ext cx="640080" cy="640080"/>
          </a:xfrm>
          <a:prstGeom prst="rect">
            <a:avLst/>
          </a:prstGeom>
          <a:ln w="9525">
            <a:solidFill>
              <a:srgbClr val="BFA87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BF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GESTÃO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23317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Casa Villare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822960" y="3749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2E1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completo de uso — treinamento da equipe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41248" y="4389120"/>
            <a:ext cx="2926080" cy="0"/>
          </a:xfrm>
          <a:prstGeom prst="line">
            <a:avLst/>
          </a:prstGeom>
          <a:noFill/>
          <a:ln w="25400">
            <a:solidFill>
              <a:srgbClr val="A78B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572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Ambientes Planejados  ·  Acesso pelo navegador e celular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A78B6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" y="654710"/>
            <a:ext cx="382219" cy="382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72768" y="62179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 o sistema Casa Villare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66928" y="150876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plataforma central da Casa Villare para gerir todo o processo comercial — do primeiro contato com o cliente até a venda, a nota fiscal, a comissão e o controle financeiro. Tudo num só lugar, acessível pelo navegador ou pelo celular.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66928" y="2971800"/>
            <a:ext cx="2670048" cy="1783080"/>
          </a:xfrm>
          <a:prstGeom prst="rect">
            <a:avLst/>
          </a:prstGeom>
          <a:solidFill>
            <a:srgbClr val="FAF7F2"/>
          </a:solidFill>
          <a:ln w="12700">
            <a:solidFill>
              <a:srgbClr val="E5DCD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3227832"/>
            <a:ext cx="640080" cy="640080"/>
          </a:xfrm>
          <a:prstGeom prst="ellipse">
            <a:avLst/>
          </a:prstGeom>
          <a:solidFill>
            <a:srgbClr val="A78B6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182" y="3407054"/>
            <a:ext cx="281635" cy="2816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86384" y="3922776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no navegador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786384" y="4270248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precisa instalar nada. Basta abrir o link e fazer login.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483864" y="2971800"/>
            <a:ext cx="2670048" cy="1783080"/>
          </a:xfrm>
          <a:prstGeom prst="rect">
            <a:avLst/>
          </a:prstGeom>
          <a:solidFill>
            <a:srgbClr val="FAF7F2"/>
          </a:solidFill>
          <a:ln w="12700">
            <a:solidFill>
              <a:srgbClr val="E5DCD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739896" y="3227832"/>
            <a:ext cx="640080" cy="640080"/>
          </a:xfrm>
          <a:prstGeom prst="ellipse">
            <a:avLst/>
          </a:prstGeom>
          <a:solidFill>
            <a:srgbClr val="A78B6D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9118" y="3407054"/>
            <a:ext cx="281635" cy="28163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703320" y="3922776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virar app no celular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3703320" y="4270248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 para adicionar à tela inicial e usar como aplicativo.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400800" y="2971800"/>
            <a:ext cx="2670048" cy="1783080"/>
          </a:xfrm>
          <a:prstGeom prst="rect">
            <a:avLst/>
          </a:prstGeom>
          <a:solidFill>
            <a:srgbClr val="FAF7F2"/>
          </a:solidFill>
          <a:ln w="12700">
            <a:solidFill>
              <a:srgbClr val="E5DCD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656832" y="3227832"/>
            <a:ext cx="640080" cy="640080"/>
          </a:xfrm>
          <a:prstGeom prst="ellipse">
            <a:avLst/>
          </a:prstGeom>
          <a:solidFill>
            <a:srgbClr val="A78B6D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6054" y="3407054"/>
            <a:ext cx="281635" cy="28163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620256" y="3922776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por perfil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6620256" y="4270248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pessoa vê apenas o que faz parte da sua função.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9317736" y="2971800"/>
            <a:ext cx="2670048" cy="1783080"/>
          </a:xfrm>
          <a:prstGeom prst="rect">
            <a:avLst/>
          </a:prstGeom>
          <a:solidFill>
            <a:srgbClr val="FAF7F2"/>
          </a:solidFill>
          <a:ln w="12700">
            <a:solidFill>
              <a:srgbClr val="E5DCD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9573768" y="3227832"/>
            <a:ext cx="640080" cy="640080"/>
          </a:xfrm>
          <a:prstGeom prst="ellipse">
            <a:avLst/>
          </a:prstGeom>
          <a:solidFill>
            <a:srgbClr val="A78B6D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2990" y="3407054"/>
            <a:ext cx="281635" cy="28163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537192" y="3922776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com backup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9537192" y="4270248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informações ficam salvas e podem ser exportadas.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7223760" y="1463040"/>
            <a:ext cx="4434840" cy="1371600"/>
          </a:xfrm>
          <a:prstGeom prst="rect">
            <a:avLst/>
          </a:prstGeom>
          <a:solidFill>
            <a:srgbClr val="1E1D1D"/>
          </a:solidFill>
          <a:ln/>
        </p:spPr>
      </p:sp>
      <p:sp>
        <p:nvSpPr>
          <p:cNvPr id="28" name="Text 21"/>
          <p:cNvSpPr/>
          <p:nvPr/>
        </p:nvSpPr>
        <p:spPr>
          <a:xfrm>
            <a:off x="7452360" y="1627632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FA8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módulos</a:t>
            </a:r>
            <a:endParaRPr lang="en-US" sz="3000" dirty="0"/>
          </a:p>
        </p:txBody>
      </p:sp>
      <p:sp>
        <p:nvSpPr>
          <p:cNvPr id="29" name="Text 22"/>
          <p:cNvSpPr/>
          <p:nvPr/>
        </p:nvSpPr>
        <p:spPr>
          <a:xfrm>
            <a:off x="7452360" y="221284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2E1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cobrindo vendas, agenda, metas, comissões, financeiro e fiscal.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A78B6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" y="654710"/>
            <a:ext cx="382219" cy="382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72768" y="62179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uma venda caminha no sistema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66928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este caminho ajuda toda a equipe a saber onde cada informação é registrada.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18592" y="2423160"/>
            <a:ext cx="199339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D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180948" y="2743200"/>
            <a:ext cx="868680" cy="868680"/>
          </a:xfrm>
          <a:prstGeom prst="ellipse">
            <a:avLst/>
          </a:prstGeom>
          <a:solidFill>
            <a:srgbClr val="A78B6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178" y="2986430"/>
            <a:ext cx="382219" cy="38221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0032" y="374904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CRM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64896" y="4114800"/>
            <a:ext cx="17007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lead entra no funil de vendas.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2593696" y="3063240"/>
            <a:ext cx="283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FA8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3000" dirty="0"/>
          </a:p>
        </p:txBody>
      </p:sp>
      <p:sp>
        <p:nvSpPr>
          <p:cNvPr id="13" name="Shape 9"/>
          <p:cNvSpPr/>
          <p:nvPr/>
        </p:nvSpPr>
        <p:spPr>
          <a:xfrm>
            <a:off x="2858872" y="2423160"/>
            <a:ext cx="199339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D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421228" y="2743200"/>
            <a:ext cx="868680" cy="868680"/>
          </a:xfrm>
          <a:prstGeom prst="ellipse">
            <a:avLst/>
          </a:prstGeom>
          <a:solidFill>
            <a:srgbClr val="1E1D1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4458" y="2986430"/>
            <a:ext cx="382219" cy="38221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950312" y="374904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Pedido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3005176" y="4114800"/>
            <a:ext cx="17007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 fechada vira pedido com itens.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833976" y="3063240"/>
            <a:ext cx="283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FA8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3000" dirty="0"/>
          </a:p>
        </p:txBody>
      </p:sp>
      <p:sp>
        <p:nvSpPr>
          <p:cNvPr id="19" name="Shape 14"/>
          <p:cNvSpPr/>
          <p:nvPr/>
        </p:nvSpPr>
        <p:spPr>
          <a:xfrm>
            <a:off x="5099152" y="2423160"/>
            <a:ext cx="199339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D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661508" y="2743200"/>
            <a:ext cx="868680" cy="868680"/>
          </a:xfrm>
          <a:prstGeom prst="ellipse">
            <a:avLst/>
          </a:prstGeom>
          <a:solidFill>
            <a:srgbClr val="A78B6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4738" y="2986430"/>
            <a:ext cx="382219" cy="38221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190592" y="374904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Fiscal / NFe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245456" y="4114800"/>
            <a:ext cx="17007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nota fiscal é emitida.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7074256" y="3063240"/>
            <a:ext cx="283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FA8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3000" dirty="0"/>
          </a:p>
        </p:txBody>
      </p:sp>
      <p:sp>
        <p:nvSpPr>
          <p:cNvPr id="25" name="Shape 19"/>
          <p:cNvSpPr/>
          <p:nvPr/>
        </p:nvSpPr>
        <p:spPr>
          <a:xfrm>
            <a:off x="7339432" y="2423160"/>
            <a:ext cx="199339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D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901788" y="2743200"/>
            <a:ext cx="868680" cy="868680"/>
          </a:xfrm>
          <a:prstGeom prst="ellipse">
            <a:avLst/>
          </a:prstGeom>
          <a:solidFill>
            <a:srgbClr val="1E1D1D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5018" y="2986430"/>
            <a:ext cx="382219" cy="382219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430872" y="374904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Comissão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7485736" y="4114800"/>
            <a:ext cx="17007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comissão do vendedor é calculada.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9314536" y="3063240"/>
            <a:ext cx="283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FA8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3000" dirty="0"/>
          </a:p>
        </p:txBody>
      </p:sp>
      <p:sp>
        <p:nvSpPr>
          <p:cNvPr id="31" name="Shape 24"/>
          <p:cNvSpPr/>
          <p:nvPr/>
        </p:nvSpPr>
        <p:spPr>
          <a:xfrm>
            <a:off x="9579712" y="2423160"/>
            <a:ext cx="199339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D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10142068" y="2743200"/>
            <a:ext cx="868680" cy="868680"/>
          </a:xfrm>
          <a:prstGeom prst="ellipse">
            <a:avLst/>
          </a:prstGeom>
          <a:solidFill>
            <a:srgbClr val="A78B6D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5298" y="2986430"/>
            <a:ext cx="382219" cy="382219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671152" y="374904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Financeiro</a:t>
            </a:r>
            <a:endParaRPr lang="en-US" sz="1600" dirty="0"/>
          </a:p>
        </p:txBody>
      </p:sp>
      <p:sp>
        <p:nvSpPr>
          <p:cNvPr id="35" name="Text 27"/>
          <p:cNvSpPr/>
          <p:nvPr/>
        </p:nvSpPr>
        <p:spPr>
          <a:xfrm>
            <a:off x="9726016" y="4114800"/>
            <a:ext cx="17007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Recebimentos e contas são controlados.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566928" y="5212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paralelo: a Agenda organiza visitas e entregas · as Metas e o Dashboard acompanham os resultados.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A78B6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" y="654710"/>
            <a:ext cx="382219" cy="382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COMEÇANDO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72768" y="62179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Primeiro acesso e login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554480"/>
            <a:ext cx="35661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D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828800"/>
            <a:ext cx="603504" cy="603504"/>
          </a:xfrm>
          <a:prstGeom prst="ellipse">
            <a:avLst/>
          </a:prstGeom>
          <a:solidFill>
            <a:srgbClr val="1E1D1D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82880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FA8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572768" y="181051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Solicite seu acesso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59536" y="2514600"/>
            <a:ext cx="29992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tela de login, clique em “Solicitar acesso”, informe nome, área e cargo. O gestor recebe o pedido.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15968" y="1554480"/>
            <a:ext cx="35661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D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0" y="1828800"/>
            <a:ext cx="603504" cy="603504"/>
          </a:xfrm>
          <a:prstGeom prst="ellipse">
            <a:avLst/>
          </a:prstGeom>
          <a:solidFill>
            <a:srgbClr val="1E1D1D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0" y="182880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FA8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321808" y="181051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sua senha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4608576" y="2514600"/>
            <a:ext cx="29992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acesso liberado, defina a senha no primeiro login: digite e confirme em “Criar senha e entrar”.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065008" y="1554480"/>
            <a:ext cx="35661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D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321040" y="1828800"/>
            <a:ext cx="603504" cy="603504"/>
          </a:xfrm>
          <a:prstGeom prst="ellipse">
            <a:avLst/>
          </a:prstGeom>
          <a:solidFill>
            <a:srgbClr val="1E1D1D"/>
          </a:solidFill>
          <a:ln/>
        </p:spPr>
      </p:sp>
      <p:sp>
        <p:nvSpPr>
          <p:cNvPr id="18" name="Text 15"/>
          <p:cNvSpPr/>
          <p:nvPr/>
        </p:nvSpPr>
        <p:spPr>
          <a:xfrm>
            <a:off x="8321040" y="182880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FA8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9070848" y="181051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no sistema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8357616" y="2514600"/>
            <a:ext cx="29992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próximos acessos, use e-mail e senha. Toque no ícone de olho para conferir o que digitou.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66928" y="3749040"/>
            <a:ext cx="11064240" cy="2240280"/>
          </a:xfrm>
          <a:prstGeom prst="rect">
            <a:avLst/>
          </a:prstGeom>
          <a:solidFill>
            <a:srgbClr val="1E1D1D"/>
          </a:solidFill>
          <a:ln/>
        </p:spPr>
      </p:sp>
      <p:sp>
        <p:nvSpPr>
          <p:cNvPr id="22" name="Shape 19"/>
          <p:cNvSpPr/>
          <p:nvPr/>
        </p:nvSpPr>
        <p:spPr>
          <a:xfrm>
            <a:off x="868680" y="4041648"/>
            <a:ext cx="777240" cy="777240"/>
          </a:xfrm>
          <a:prstGeom prst="ellipse">
            <a:avLst/>
          </a:prstGeom>
          <a:solidFill>
            <a:srgbClr val="BFA87D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307" y="4259275"/>
            <a:ext cx="341986" cy="341986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828800" y="4059936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F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 de acesso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1828800" y="4443984"/>
            <a:ext cx="9509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F2E1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uma senha só sua e não compartilhe o login.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F2E1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terminar, clique em “Sair” — principalmente em computadores compartilhados.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F2E1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Esqueceu a senha? Fale com o gestor para reabrir o acesso.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F2E1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perfil enxerga só os módulos da sua função — é normal ver menos abas que um colega.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A78B6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" y="654710"/>
            <a:ext cx="382219" cy="382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72768" y="62179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Perfis e o que cada um enxerga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600200"/>
            <a:ext cx="2670048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D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66928" y="1600200"/>
            <a:ext cx="2670048" cy="109728"/>
          </a:xfrm>
          <a:prstGeom prst="rect">
            <a:avLst/>
          </a:prstGeom>
          <a:solidFill>
            <a:srgbClr val="A78B6D"/>
          </a:solidFill>
          <a:ln/>
        </p:spPr>
      </p:sp>
      <p:sp>
        <p:nvSpPr>
          <p:cNvPr id="8" name="Shape 5"/>
          <p:cNvSpPr/>
          <p:nvPr/>
        </p:nvSpPr>
        <p:spPr>
          <a:xfrm>
            <a:off x="1444752" y="1984248"/>
            <a:ext cx="914400" cy="914400"/>
          </a:xfrm>
          <a:prstGeom prst="ellipse">
            <a:avLst/>
          </a:prstGeom>
          <a:solidFill>
            <a:srgbClr val="1E1D1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784" y="2240280"/>
            <a:ext cx="402336" cy="4023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8368" y="306324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Gestor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658368" y="3502152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total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768096" y="3867912"/>
            <a:ext cx="22677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Vê e administra todos os módulos, libera acessos e configura o sistema.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483864" y="1600200"/>
            <a:ext cx="2670048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D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483864" y="1600200"/>
            <a:ext cx="2670048" cy="109728"/>
          </a:xfrm>
          <a:prstGeom prst="rect">
            <a:avLst/>
          </a:prstGeom>
          <a:solidFill>
            <a:srgbClr val="A78B6D"/>
          </a:solidFill>
          <a:ln/>
        </p:spPr>
      </p:sp>
      <p:sp>
        <p:nvSpPr>
          <p:cNvPr id="15" name="Shape 11"/>
          <p:cNvSpPr/>
          <p:nvPr/>
        </p:nvSpPr>
        <p:spPr>
          <a:xfrm>
            <a:off x="4361688" y="1984248"/>
            <a:ext cx="914400" cy="914400"/>
          </a:xfrm>
          <a:prstGeom prst="ellipse">
            <a:avLst/>
          </a:prstGeom>
          <a:solidFill>
            <a:srgbClr val="1E1D1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2240280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575304" y="306324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Comercial / Vendedor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3575304" y="3502152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em vendas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3685032" y="3867912"/>
            <a:ext cx="22677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CRM, pedidos, agenda, metas e suas comissões.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400800" y="1600200"/>
            <a:ext cx="2670048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D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00800" y="1600200"/>
            <a:ext cx="2670048" cy="109728"/>
          </a:xfrm>
          <a:prstGeom prst="rect">
            <a:avLst/>
          </a:prstGeom>
          <a:solidFill>
            <a:srgbClr val="A78B6D"/>
          </a:solidFill>
          <a:ln/>
        </p:spPr>
      </p:sp>
      <p:sp>
        <p:nvSpPr>
          <p:cNvPr id="22" name="Shape 17"/>
          <p:cNvSpPr/>
          <p:nvPr/>
        </p:nvSpPr>
        <p:spPr>
          <a:xfrm>
            <a:off x="7278624" y="1984248"/>
            <a:ext cx="914400" cy="914400"/>
          </a:xfrm>
          <a:prstGeom prst="ellipse">
            <a:avLst/>
          </a:prstGeom>
          <a:solidFill>
            <a:srgbClr val="1E1D1D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2240280"/>
            <a:ext cx="402336" cy="40233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492240" y="306324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Obras / Montador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6492240" y="3502152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na entrega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6601968" y="3867912"/>
            <a:ext cx="22677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Agenda, pedidos e tarefas ligadas à montagem.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9317736" y="1600200"/>
            <a:ext cx="2670048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D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9317736" y="1600200"/>
            <a:ext cx="2670048" cy="109728"/>
          </a:xfrm>
          <a:prstGeom prst="rect">
            <a:avLst/>
          </a:prstGeom>
          <a:solidFill>
            <a:srgbClr val="A78B6D"/>
          </a:solidFill>
          <a:ln/>
        </p:spPr>
      </p:sp>
      <p:sp>
        <p:nvSpPr>
          <p:cNvPr id="29" name="Shape 23"/>
          <p:cNvSpPr/>
          <p:nvPr/>
        </p:nvSpPr>
        <p:spPr>
          <a:xfrm>
            <a:off x="10195560" y="1984248"/>
            <a:ext cx="914400" cy="914400"/>
          </a:xfrm>
          <a:prstGeom prst="ellipse">
            <a:avLst/>
          </a:prstGeom>
          <a:solidFill>
            <a:srgbClr val="1E1D1D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1592" y="2240280"/>
            <a:ext cx="402336" cy="40233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409176" y="306324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Prestador / Outros</a:t>
            </a:r>
            <a:endParaRPr lang="en-US" sz="1550" dirty="0"/>
          </a:p>
        </p:txBody>
      </p:sp>
      <p:sp>
        <p:nvSpPr>
          <p:cNvPr id="32" name="Text 25"/>
          <p:cNvSpPr/>
          <p:nvPr/>
        </p:nvSpPr>
        <p:spPr>
          <a:xfrm>
            <a:off x="9409176" y="3502152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pontual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9518904" y="3867912"/>
            <a:ext cx="22677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 apenas o que a função exige, definido pelo gestor.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566928" y="5074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permissões padrão são definidas pela área, mas o gestor pode ajustar caso a caso em Configurações.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MÓDULOS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14 módulos do sistema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8864" y="1783080"/>
            <a:ext cx="2103120" cy="1078992"/>
          </a:xfrm>
          <a:prstGeom prst="rect">
            <a:avLst/>
          </a:prstGeom>
          <a:solidFill>
            <a:srgbClr val="2A2826"/>
          </a:solidFill>
          <a:ln w="12700">
            <a:solidFill>
              <a:srgbClr val="3D3A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0032" y="2039112"/>
            <a:ext cx="566928" cy="566928"/>
          </a:xfrm>
          <a:prstGeom prst="ellipse">
            <a:avLst/>
          </a:prstGeom>
          <a:solidFill>
            <a:srgbClr val="A78B6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771" y="2197852"/>
            <a:ext cx="249448" cy="2494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7544" y="1783080"/>
            <a:ext cx="11430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1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776576" y="1783080"/>
            <a:ext cx="2103120" cy="1078992"/>
          </a:xfrm>
          <a:prstGeom prst="rect">
            <a:avLst/>
          </a:prstGeom>
          <a:solidFill>
            <a:srgbClr val="2A2826"/>
          </a:solidFill>
          <a:ln w="12700">
            <a:solidFill>
              <a:srgbClr val="3D3A3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977744" y="2039112"/>
            <a:ext cx="566928" cy="566928"/>
          </a:xfrm>
          <a:prstGeom prst="ellipse">
            <a:avLst/>
          </a:prstGeom>
          <a:solidFill>
            <a:srgbClr val="A78B6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483" y="2197852"/>
            <a:ext cx="249448" cy="2494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45256" y="1783080"/>
            <a:ext cx="11430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1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044288" y="1783080"/>
            <a:ext cx="2103120" cy="1078992"/>
          </a:xfrm>
          <a:prstGeom prst="rect">
            <a:avLst/>
          </a:prstGeom>
          <a:solidFill>
            <a:srgbClr val="2A2826"/>
          </a:solidFill>
          <a:ln w="12700">
            <a:solidFill>
              <a:srgbClr val="3D3A3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245456" y="2039112"/>
            <a:ext cx="566928" cy="566928"/>
          </a:xfrm>
          <a:prstGeom prst="ellipse">
            <a:avLst/>
          </a:prstGeom>
          <a:solidFill>
            <a:srgbClr val="A78B6D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195" y="2197852"/>
            <a:ext cx="249448" cy="2494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912968" y="1783080"/>
            <a:ext cx="11430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1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7312000" y="1783080"/>
            <a:ext cx="2103120" cy="1078992"/>
          </a:xfrm>
          <a:prstGeom prst="rect">
            <a:avLst/>
          </a:prstGeom>
          <a:solidFill>
            <a:srgbClr val="2A2826"/>
          </a:solidFill>
          <a:ln w="12700">
            <a:solidFill>
              <a:srgbClr val="3D3A36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513168" y="2039112"/>
            <a:ext cx="566928" cy="566928"/>
          </a:xfrm>
          <a:prstGeom prst="ellipse">
            <a:avLst/>
          </a:prstGeom>
          <a:solidFill>
            <a:srgbClr val="A78B6D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1907" y="2197852"/>
            <a:ext cx="249448" cy="2494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180680" y="1783080"/>
            <a:ext cx="11430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1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9579712" y="1783080"/>
            <a:ext cx="2103120" cy="1078992"/>
          </a:xfrm>
          <a:prstGeom prst="rect">
            <a:avLst/>
          </a:prstGeom>
          <a:solidFill>
            <a:srgbClr val="2A2826"/>
          </a:solidFill>
          <a:ln w="12700">
            <a:solidFill>
              <a:srgbClr val="3D3A36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9780880" y="2039112"/>
            <a:ext cx="566928" cy="566928"/>
          </a:xfrm>
          <a:prstGeom prst="ellipse">
            <a:avLst/>
          </a:prstGeom>
          <a:solidFill>
            <a:srgbClr val="A78B6D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9619" y="2197852"/>
            <a:ext cx="249448" cy="2494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448392" y="1783080"/>
            <a:ext cx="11430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1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508864" y="3044952"/>
            <a:ext cx="2103120" cy="1078992"/>
          </a:xfrm>
          <a:prstGeom prst="rect">
            <a:avLst/>
          </a:prstGeom>
          <a:solidFill>
            <a:srgbClr val="2A2826"/>
          </a:solidFill>
          <a:ln w="12700">
            <a:solidFill>
              <a:srgbClr val="3D3A36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710032" y="3300984"/>
            <a:ext cx="566928" cy="566928"/>
          </a:xfrm>
          <a:prstGeom prst="ellipse">
            <a:avLst/>
          </a:prstGeom>
          <a:solidFill>
            <a:srgbClr val="A78B6D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771" y="3459724"/>
            <a:ext cx="249448" cy="24944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377544" y="3044952"/>
            <a:ext cx="11430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1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Comissões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2776576" y="3044952"/>
            <a:ext cx="2103120" cy="1078992"/>
          </a:xfrm>
          <a:prstGeom prst="rect">
            <a:avLst/>
          </a:prstGeom>
          <a:solidFill>
            <a:srgbClr val="2A2826"/>
          </a:solidFill>
          <a:ln w="12700">
            <a:solidFill>
              <a:srgbClr val="3D3A36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2977744" y="3300984"/>
            <a:ext cx="566928" cy="566928"/>
          </a:xfrm>
          <a:prstGeom prst="ellipse">
            <a:avLst/>
          </a:prstGeom>
          <a:solidFill>
            <a:srgbClr val="A78B6D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36483" y="3459724"/>
            <a:ext cx="249448" cy="24944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3645256" y="3044952"/>
            <a:ext cx="11430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1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Cadastros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5044288" y="3044952"/>
            <a:ext cx="2103120" cy="1078992"/>
          </a:xfrm>
          <a:prstGeom prst="rect">
            <a:avLst/>
          </a:prstGeom>
          <a:solidFill>
            <a:srgbClr val="2A2826"/>
          </a:solidFill>
          <a:ln w="12700">
            <a:solidFill>
              <a:srgbClr val="3D3A36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5245456" y="3300984"/>
            <a:ext cx="566928" cy="566928"/>
          </a:xfrm>
          <a:prstGeom prst="ellipse">
            <a:avLst/>
          </a:prstGeom>
          <a:solidFill>
            <a:srgbClr val="A78B6D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04195" y="3459724"/>
            <a:ext cx="249448" cy="24944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912968" y="3044952"/>
            <a:ext cx="11430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1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</a:t>
            </a:r>
            <a:endParaRPr lang="en-US" sz="1300" dirty="0"/>
          </a:p>
        </p:txBody>
      </p:sp>
      <p:sp>
        <p:nvSpPr>
          <p:cNvPr id="36" name="Shape 26"/>
          <p:cNvSpPr/>
          <p:nvPr/>
        </p:nvSpPr>
        <p:spPr>
          <a:xfrm>
            <a:off x="7312000" y="3044952"/>
            <a:ext cx="2103120" cy="1078992"/>
          </a:xfrm>
          <a:prstGeom prst="rect">
            <a:avLst/>
          </a:prstGeom>
          <a:solidFill>
            <a:srgbClr val="2A2826"/>
          </a:solidFill>
          <a:ln w="12700">
            <a:solidFill>
              <a:srgbClr val="3D3A36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7513168" y="3300984"/>
            <a:ext cx="566928" cy="566928"/>
          </a:xfrm>
          <a:prstGeom prst="ellipse">
            <a:avLst/>
          </a:prstGeom>
          <a:solidFill>
            <a:srgbClr val="A78B6D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71907" y="3459724"/>
            <a:ext cx="249448" cy="249448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8180680" y="3044952"/>
            <a:ext cx="11430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1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Pagamentos</a:t>
            </a:r>
            <a:endParaRPr lang="en-US" sz="1300" dirty="0"/>
          </a:p>
        </p:txBody>
      </p:sp>
      <p:sp>
        <p:nvSpPr>
          <p:cNvPr id="40" name="Shape 29"/>
          <p:cNvSpPr/>
          <p:nvPr/>
        </p:nvSpPr>
        <p:spPr>
          <a:xfrm>
            <a:off x="9579712" y="3044952"/>
            <a:ext cx="2103120" cy="1078992"/>
          </a:xfrm>
          <a:prstGeom prst="rect">
            <a:avLst/>
          </a:prstGeom>
          <a:solidFill>
            <a:srgbClr val="2A2826"/>
          </a:solidFill>
          <a:ln w="12700">
            <a:solidFill>
              <a:srgbClr val="3D3A36"/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9780880" y="3300984"/>
            <a:ext cx="566928" cy="566928"/>
          </a:xfrm>
          <a:prstGeom prst="ellipse">
            <a:avLst/>
          </a:prstGeom>
          <a:solidFill>
            <a:srgbClr val="A78B6D"/>
          </a:solidFill>
          <a:ln/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39619" y="3459724"/>
            <a:ext cx="249448" cy="249448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10448392" y="3044952"/>
            <a:ext cx="11430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1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</a:t>
            </a:r>
            <a:endParaRPr lang="en-US" sz="1300" dirty="0"/>
          </a:p>
        </p:txBody>
      </p:sp>
      <p:sp>
        <p:nvSpPr>
          <p:cNvPr id="44" name="Shape 32"/>
          <p:cNvSpPr/>
          <p:nvPr/>
        </p:nvSpPr>
        <p:spPr>
          <a:xfrm>
            <a:off x="508864" y="4306824"/>
            <a:ext cx="2103120" cy="1078992"/>
          </a:xfrm>
          <a:prstGeom prst="rect">
            <a:avLst/>
          </a:prstGeom>
          <a:solidFill>
            <a:srgbClr val="2A2826"/>
          </a:solidFill>
          <a:ln w="12700">
            <a:solidFill>
              <a:srgbClr val="3D3A36"/>
            </a:solidFill>
            <a:prstDash val="solid"/>
          </a:ln>
        </p:spPr>
      </p:sp>
      <p:sp>
        <p:nvSpPr>
          <p:cNvPr id="45" name="Shape 33"/>
          <p:cNvSpPr/>
          <p:nvPr/>
        </p:nvSpPr>
        <p:spPr>
          <a:xfrm>
            <a:off x="710032" y="4562856"/>
            <a:ext cx="566928" cy="566928"/>
          </a:xfrm>
          <a:prstGeom prst="ellipse">
            <a:avLst/>
          </a:prstGeom>
          <a:solidFill>
            <a:srgbClr val="A78B6D"/>
          </a:solidFill>
          <a:ln/>
        </p:spPr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8771" y="4721596"/>
            <a:ext cx="249448" cy="249448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1377544" y="4306824"/>
            <a:ext cx="11430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1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</a:t>
            </a:r>
            <a:endParaRPr lang="en-US" sz="1300" dirty="0"/>
          </a:p>
        </p:txBody>
      </p:sp>
      <p:sp>
        <p:nvSpPr>
          <p:cNvPr id="48" name="Shape 35"/>
          <p:cNvSpPr/>
          <p:nvPr/>
        </p:nvSpPr>
        <p:spPr>
          <a:xfrm>
            <a:off x="2776576" y="4306824"/>
            <a:ext cx="2103120" cy="1078992"/>
          </a:xfrm>
          <a:prstGeom prst="rect">
            <a:avLst/>
          </a:prstGeom>
          <a:solidFill>
            <a:srgbClr val="2A2826"/>
          </a:solidFill>
          <a:ln w="12700">
            <a:solidFill>
              <a:srgbClr val="3D3A36"/>
            </a:solidFill>
            <a:prstDash val="solid"/>
          </a:ln>
        </p:spPr>
      </p:sp>
      <p:sp>
        <p:nvSpPr>
          <p:cNvPr id="49" name="Shape 36"/>
          <p:cNvSpPr/>
          <p:nvPr/>
        </p:nvSpPr>
        <p:spPr>
          <a:xfrm>
            <a:off x="2977744" y="4562856"/>
            <a:ext cx="566928" cy="566928"/>
          </a:xfrm>
          <a:prstGeom prst="ellipse">
            <a:avLst/>
          </a:prstGeom>
          <a:solidFill>
            <a:srgbClr val="A78B6D"/>
          </a:solidFill>
          <a:ln/>
        </p:spPr>
      </p:sp>
      <p:pic>
        <p:nvPicPr>
          <p:cNvPr id="5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36483" y="4721596"/>
            <a:ext cx="249448" cy="249448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3645256" y="4306824"/>
            <a:ext cx="11430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1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Treinamentos</a:t>
            </a:r>
            <a:endParaRPr lang="en-US" sz="1300" dirty="0"/>
          </a:p>
        </p:txBody>
      </p:sp>
      <p:sp>
        <p:nvSpPr>
          <p:cNvPr id="52" name="Shape 38"/>
          <p:cNvSpPr/>
          <p:nvPr/>
        </p:nvSpPr>
        <p:spPr>
          <a:xfrm>
            <a:off x="5044288" y="4306824"/>
            <a:ext cx="2103120" cy="1078992"/>
          </a:xfrm>
          <a:prstGeom prst="rect">
            <a:avLst/>
          </a:prstGeom>
          <a:solidFill>
            <a:srgbClr val="2A2826"/>
          </a:solidFill>
          <a:ln w="12700">
            <a:solidFill>
              <a:srgbClr val="3D3A36"/>
            </a:solidFill>
            <a:prstDash val="solid"/>
          </a:ln>
        </p:spPr>
      </p:sp>
      <p:sp>
        <p:nvSpPr>
          <p:cNvPr id="53" name="Shape 39"/>
          <p:cNvSpPr/>
          <p:nvPr/>
        </p:nvSpPr>
        <p:spPr>
          <a:xfrm>
            <a:off x="5245456" y="4562856"/>
            <a:ext cx="566928" cy="566928"/>
          </a:xfrm>
          <a:prstGeom prst="ellipse">
            <a:avLst/>
          </a:prstGeom>
          <a:solidFill>
            <a:srgbClr val="A78B6D"/>
          </a:solidFill>
          <a:ln/>
        </p:spPr>
      </p:sp>
      <p:pic>
        <p:nvPicPr>
          <p:cNvPr id="5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04195" y="4721596"/>
            <a:ext cx="249448" cy="249448"/>
          </a:xfrm>
          <a:prstGeom prst="rect">
            <a:avLst/>
          </a:prstGeom>
        </p:spPr>
      </p:pic>
      <p:sp>
        <p:nvSpPr>
          <p:cNvPr id="55" name="Text 40"/>
          <p:cNvSpPr/>
          <p:nvPr/>
        </p:nvSpPr>
        <p:spPr>
          <a:xfrm>
            <a:off x="5912968" y="4306824"/>
            <a:ext cx="11430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1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 (NFe)</a:t>
            </a:r>
            <a:endParaRPr lang="en-US" sz="1300" dirty="0"/>
          </a:p>
        </p:txBody>
      </p:sp>
      <p:sp>
        <p:nvSpPr>
          <p:cNvPr id="56" name="Shape 41"/>
          <p:cNvSpPr/>
          <p:nvPr/>
        </p:nvSpPr>
        <p:spPr>
          <a:xfrm>
            <a:off x="7312000" y="4306824"/>
            <a:ext cx="2103120" cy="1078992"/>
          </a:xfrm>
          <a:prstGeom prst="rect">
            <a:avLst/>
          </a:prstGeom>
          <a:solidFill>
            <a:srgbClr val="2A2826"/>
          </a:solidFill>
          <a:ln w="12700">
            <a:solidFill>
              <a:srgbClr val="3D3A36"/>
            </a:solidFill>
            <a:prstDash val="solid"/>
          </a:ln>
        </p:spPr>
      </p:sp>
      <p:sp>
        <p:nvSpPr>
          <p:cNvPr id="57" name="Shape 42"/>
          <p:cNvSpPr/>
          <p:nvPr/>
        </p:nvSpPr>
        <p:spPr>
          <a:xfrm>
            <a:off x="7513168" y="4562856"/>
            <a:ext cx="566928" cy="566928"/>
          </a:xfrm>
          <a:prstGeom prst="ellipse">
            <a:avLst/>
          </a:prstGeom>
          <a:solidFill>
            <a:srgbClr val="A78B6D"/>
          </a:solidFill>
          <a:ln/>
        </p:spPr>
      </p:sp>
      <p:pic>
        <p:nvPicPr>
          <p:cNvPr id="5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71907" y="4721596"/>
            <a:ext cx="249448" cy="249448"/>
          </a:xfrm>
          <a:prstGeom prst="rect">
            <a:avLst/>
          </a:prstGeom>
        </p:spPr>
      </p:pic>
      <p:sp>
        <p:nvSpPr>
          <p:cNvPr id="59" name="Text 43"/>
          <p:cNvSpPr/>
          <p:nvPr/>
        </p:nvSpPr>
        <p:spPr>
          <a:xfrm>
            <a:off x="8180680" y="4306824"/>
            <a:ext cx="11430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1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Configurações</a:t>
            </a:r>
            <a:endParaRPr lang="en-US" sz="1300" dirty="0"/>
          </a:p>
        </p:txBody>
      </p:sp>
      <p:sp>
        <p:nvSpPr>
          <p:cNvPr id="60" name="Text 44"/>
          <p:cNvSpPr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próximas telas, cada módulo explicado de forma simples.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A78B6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" y="654710"/>
            <a:ext cx="382219" cy="382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72768" y="62179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— sua tela inicial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66928" y="1481328"/>
            <a:ext cx="6446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primeira tela ao entrar. Mostra um resumo rápido do dia e dos resultados, com atalhos para o que importa.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03504" y="2734056"/>
            <a:ext cx="310896" cy="310896"/>
          </a:xfrm>
          <a:prstGeom prst="ellipse">
            <a:avLst/>
          </a:prstGeom>
          <a:solidFill>
            <a:srgbClr val="FAF7F2"/>
          </a:solidFill>
          <a:ln w="12700">
            <a:solidFill>
              <a:srgbClr val="BFA87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3504" y="27340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60704" y="2651760"/>
            <a:ext cx="5943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do período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leads, vendas e valores em destaque.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3504" y="3410712"/>
            <a:ext cx="310896" cy="310896"/>
          </a:xfrm>
          <a:prstGeom prst="ellipse">
            <a:avLst/>
          </a:prstGeom>
          <a:solidFill>
            <a:srgbClr val="FAF7F2"/>
          </a:solidFill>
          <a:ln w="12700">
            <a:solidFill>
              <a:srgbClr val="BFA87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504" y="34107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60704" y="3328416"/>
            <a:ext cx="5943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de desempenho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das vendas e metas.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3504" y="4087368"/>
            <a:ext cx="310896" cy="310896"/>
          </a:xfrm>
          <a:prstGeom prst="ellipse">
            <a:avLst/>
          </a:prstGeom>
          <a:solidFill>
            <a:srgbClr val="FAF7F2"/>
          </a:solidFill>
          <a:ln w="12700">
            <a:solidFill>
              <a:srgbClr val="BFA87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3504" y="40873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60704" y="4005072"/>
            <a:ext cx="5943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 da equipe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recados e lembretes publicados pelo gestor.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3504" y="4764024"/>
            <a:ext cx="310896" cy="310896"/>
          </a:xfrm>
          <a:prstGeom prst="ellipse">
            <a:avLst/>
          </a:prstGeom>
          <a:solidFill>
            <a:srgbClr val="FAF7F2"/>
          </a:solidFill>
          <a:ln w="12700">
            <a:solidFill>
              <a:srgbClr val="BFA87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3504" y="47640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60704" y="4681728"/>
            <a:ext cx="5943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Atalhos rápidos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acesse os módulos mais usados em um clique.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360920" y="1463040"/>
            <a:ext cx="4297680" cy="2240280"/>
          </a:xfrm>
          <a:prstGeom prst="rect">
            <a:avLst/>
          </a:prstGeom>
          <a:solidFill>
            <a:srgbClr val="FAF7F2"/>
          </a:solidFill>
          <a:ln w="12700">
            <a:solidFill>
              <a:srgbClr val="E5DCD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680960" y="1755648"/>
            <a:ext cx="868680" cy="868680"/>
          </a:xfrm>
          <a:prstGeom prst="ellipse">
            <a:avLst/>
          </a:prstGeom>
          <a:solidFill>
            <a:srgbClr val="A78B6D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190" y="1998878"/>
            <a:ext cx="382219" cy="382219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732520" y="1755648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Visão do dia</a:t>
            </a:r>
            <a:endParaRPr lang="en-US" sz="2300" dirty="0"/>
          </a:p>
        </p:txBody>
      </p:sp>
      <p:sp>
        <p:nvSpPr>
          <p:cNvPr id="23" name="Text 19"/>
          <p:cNvSpPr/>
          <p:nvPr/>
        </p:nvSpPr>
        <p:spPr>
          <a:xfrm>
            <a:off x="7680960" y="27889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sempre por aqui para saber o que precisa de atenção.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7360920" y="3886200"/>
            <a:ext cx="4297680" cy="2057400"/>
          </a:xfrm>
          <a:prstGeom prst="rect">
            <a:avLst/>
          </a:prstGeom>
          <a:solidFill>
            <a:srgbClr val="1E1D1D"/>
          </a:solidFill>
          <a:ln/>
        </p:spPr>
      </p:sp>
      <p:sp>
        <p:nvSpPr>
          <p:cNvPr id="25" name="Shape 21"/>
          <p:cNvSpPr/>
          <p:nvPr/>
        </p:nvSpPr>
        <p:spPr>
          <a:xfrm>
            <a:off x="7653528" y="4114800"/>
            <a:ext cx="640080" cy="640080"/>
          </a:xfrm>
          <a:prstGeom prst="ellipse">
            <a:avLst/>
          </a:prstGeom>
          <a:solidFill>
            <a:srgbClr val="BFA87D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2750" y="4294022"/>
            <a:ext cx="281635" cy="281635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458200" y="4160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F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7680960" y="48006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2E1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Confira o Dashboard logo no início do expediente: ele resume agenda, metas e avisos sem você abrir cada módulo.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A78B6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" y="654710"/>
            <a:ext cx="382219" cy="382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72768" y="62179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CRM — Funil de Vendas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66928" y="1481328"/>
            <a:ext cx="6446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cada cliente em potencial (lead) é acompanhado, da prospecção até o fechamento. O coração do trabalho comercial.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03504" y="2734056"/>
            <a:ext cx="310896" cy="310896"/>
          </a:xfrm>
          <a:prstGeom prst="ellipse">
            <a:avLst/>
          </a:prstGeom>
          <a:solidFill>
            <a:srgbClr val="FAF7F2"/>
          </a:solidFill>
          <a:ln w="12700">
            <a:solidFill>
              <a:srgbClr val="BFA87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3504" y="27340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60704" y="2651760"/>
            <a:ext cx="5943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do funil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Prospecção › Proposta › Negociação › Ganho/Perdido.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3504" y="3410712"/>
            <a:ext cx="310896" cy="310896"/>
          </a:xfrm>
          <a:prstGeom prst="ellipse">
            <a:avLst/>
          </a:prstGeom>
          <a:solidFill>
            <a:srgbClr val="FAF7F2"/>
          </a:solidFill>
          <a:ln w="12700">
            <a:solidFill>
              <a:srgbClr val="BFA87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504" y="34107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60704" y="3328416"/>
            <a:ext cx="5943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lead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cadastre o contato e a origem em segundos.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3504" y="4087368"/>
            <a:ext cx="310896" cy="310896"/>
          </a:xfrm>
          <a:prstGeom prst="ellipse">
            <a:avLst/>
          </a:prstGeom>
          <a:solidFill>
            <a:srgbClr val="FAF7F2"/>
          </a:solidFill>
          <a:ln w="12700">
            <a:solidFill>
              <a:srgbClr val="BFA87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3504" y="40873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60704" y="4005072"/>
            <a:ext cx="5943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conversas e próximos passos.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3504" y="4764024"/>
            <a:ext cx="310896" cy="310896"/>
          </a:xfrm>
          <a:prstGeom prst="ellipse">
            <a:avLst/>
          </a:prstGeom>
          <a:solidFill>
            <a:srgbClr val="FAF7F2"/>
          </a:solidFill>
          <a:ln w="12700">
            <a:solidFill>
              <a:srgbClr val="BFA87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3504" y="47640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60704" y="4681728"/>
            <a:ext cx="5943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ganho vira pedido sem retrabalho.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360920" y="1463040"/>
            <a:ext cx="4297680" cy="2240280"/>
          </a:xfrm>
          <a:prstGeom prst="rect">
            <a:avLst/>
          </a:prstGeom>
          <a:solidFill>
            <a:srgbClr val="FAF7F2"/>
          </a:solidFill>
          <a:ln w="12700">
            <a:solidFill>
              <a:srgbClr val="E5DCD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680960" y="1755648"/>
            <a:ext cx="868680" cy="868680"/>
          </a:xfrm>
          <a:prstGeom prst="ellipse">
            <a:avLst/>
          </a:prstGeom>
          <a:solidFill>
            <a:srgbClr val="A78B6D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190" y="1998878"/>
            <a:ext cx="382219" cy="382219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732520" y="1755648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etapas</a:t>
            </a:r>
            <a:endParaRPr lang="en-US" sz="2300" dirty="0"/>
          </a:p>
        </p:txBody>
      </p:sp>
      <p:sp>
        <p:nvSpPr>
          <p:cNvPr id="23" name="Text 19"/>
          <p:cNvSpPr/>
          <p:nvPr/>
        </p:nvSpPr>
        <p:spPr>
          <a:xfrm>
            <a:off x="7680960" y="27889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Mova o lead entre as colunas conforme a negociação avança.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7360920" y="3886200"/>
            <a:ext cx="4297680" cy="2057400"/>
          </a:xfrm>
          <a:prstGeom prst="rect">
            <a:avLst/>
          </a:prstGeom>
          <a:solidFill>
            <a:srgbClr val="1E1D1D"/>
          </a:solidFill>
          <a:ln/>
        </p:spPr>
      </p:sp>
      <p:sp>
        <p:nvSpPr>
          <p:cNvPr id="25" name="Shape 21"/>
          <p:cNvSpPr/>
          <p:nvPr/>
        </p:nvSpPr>
        <p:spPr>
          <a:xfrm>
            <a:off x="7653528" y="4114800"/>
            <a:ext cx="640080" cy="640080"/>
          </a:xfrm>
          <a:prstGeom prst="ellipse">
            <a:avLst/>
          </a:prstGeom>
          <a:solidFill>
            <a:srgbClr val="BFA87D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2750" y="4294022"/>
            <a:ext cx="281635" cy="281635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458200" y="4160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F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7680960" y="48006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2E1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Mantenha o funil sempre atualizado: é dele que saem as metas, as comissões e os relatórios de vendas.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A78B6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" y="654710"/>
            <a:ext cx="382219" cy="382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72768" y="62179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Pedidos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66928" y="1481328"/>
            <a:ext cx="6446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a venda fechada com itens, ambientes e valores. É a base para a nota fiscal e a comissão.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03504" y="2734056"/>
            <a:ext cx="310896" cy="310896"/>
          </a:xfrm>
          <a:prstGeom prst="ellipse">
            <a:avLst/>
          </a:prstGeom>
          <a:solidFill>
            <a:srgbClr val="FAF7F2"/>
          </a:solidFill>
          <a:ln w="12700">
            <a:solidFill>
              <a:srgbClr val="BFA87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3504" y="27340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60704" y="2651760"/>
            <a:ext cx="5943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pedido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cliente, ambientes e itens do projeto.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3504" y="3410712"/>
            <a:ext cx="310896" cy="310896"/>
          </a:xfrm>
          <a:prstGeom prst="ellipse">
            <a:avLst/>
          </a:prstGeom>
          <a:solidFill>
            <a:srgbClr val="FAF7F2"/>
          </a:solidFill>
          <a:ln w="12700">
            <a:solidFill>
              <a:srgbClr val="BFA87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504" y="34107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60704" y="3328416"/>
            <a:ext cx="5943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e descontos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totais calculados automaticamente.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3504" y="4087368"/>
            <a:ext cx="310896" cy="310896"/>
          </a:xfrm>
          <a:prstGeom prst="ellipse">
            <a:avLst/>
          </a:prstGeom>
          <a:solidFill>
            <a:srgbClr val="FAF7F2"/>
          </a:solidFill>
          <a:ln w="12700">
            <a:solidFill>
              <a:srgbClr val="BFA87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3504" y="40873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60704" y="4005072"/>
            <a:ext cx="5943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do pedido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acompanhe da venda à entrega.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3504" y="4764024"/>
            <a:ext cx="310896" cy="310896"/>
          </a:xfrm>
          <a:prstGeom prst="ellipse">
            <a:avLst/>
          </a:prstGeom>
          <a:solidFill>
            <a:srgbClr val="FAF7F2"/>
          </a:solidFill>
          <a:ln w="12700">
            <a:solidFill>
              <a:srgbClr val="BFA87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3504" y="47640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60704" y="4681728"/>
            <a:ext cx="5943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Ligação com a NFe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emita a nota direto do pedido.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360920" y="1463040"/>
            <a:ext cx="4297680" cy="2240280"/>
          </a:xfrm>
          <a:prstGeom prst="rect">
            <a:avLst/>
          </a:prstGeom>
          <a:solidFill>
            <a:srgbClr val="FAF7F2"/>
          </a:solidFill>
          <a:ln w="12700">
            <a:solidFill>
              <a:srgbClr val="E5DCD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680960" y="1755648"/>
            <a:ext cx="868680" cy="868680"/>
          </a:xfrm>
          <a:prstGeom prst="ellipse">
            <a:avLst/>
          </a:prstGeom>
          <a:solidFill>
            <a:srgbClr val="A78B6D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190" y="1998878"/>
            <a:ext cx="382219" cy="382219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732520" y="1755648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Venda → Nota</a:t>
            </a:r>
            <a:endParaRPr lang="en-US" sz="2300" dirty="0"/>
          </a:p>
        </p:txBody>
      </p:sp>
      <p:sp>
        <p:nvSpPr>
          <p:cNvPr id="23" name="Text 19"/>
          <p:cNvSpPr/>
          <p:nvPr/>
        </p:nvSpPr>
        <p:spPr>
          <a:xfrm>
            <a:off x="7680960" y="27889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pedido conecta o comercial, o fiscal e o financeiro.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7360920" y="3886200"/>
            <a:ext cx="4297680" cy="2057400"/>
          </a:xfrm>
          <a:prstGeom prst="rect">
            <a:avLst/>
          </a:prstGeom>
          <a:solidFill>
            <a:srgbClr val="1E1D1D"/>
          </a:solidFill>
          <a:ln/>
        </p:spPr>
      </p:sp>
      <p:sp>
        <p:nvSpPr>
          <p:cNvPr id="25" name="Shape 21"/>
          <p:cNvSpPr/>
          <p:nvPr/>
        </p:nvSpPr>
        <p:spPr>
          <a:xfrm>
            <a:off x="7653528" y="4114800"/>
            <a:ext cx="640080" cy="640080"/>
          </a:xfrm>
          <a:prstGeom prst="ellipse">
            <a:avLst/>
          </a:prstGeom>
          <a:solidFill>
            <a:srgbClr val="BFA87D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2750" y="4294022"/>
            <a:ext cx="281635" cy="281635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458200" y="4160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F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7680960" y="48006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2E1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Confira os dados do cliente e os valores antes de salvar — eles alimentam a nota fiscal e a comissão automaticamente.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A78B6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" y="654710"/>
            <a:ext cx="382219" cy="382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72768" y="62179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Fiscal — Emissão de NFe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66928" y="1481328"/>
            <a:ext cx="6446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Emite a nota fiscal eletrônica direto do sistema, com integração à NFE.io. A chave de acesso fica protegida no servidor.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03504" y="2734056"/>
            <a:ext cx="310896" cy="310896"/>
          </a:xfrm>
          <a:prstGeom prst="ellipse">
            <a:avLst/>
          </a:prstGeom>
          <a:solidFill>
            <a:srgbClr val="FAF7F2"/>
          </a:solidFill>
          <a:ln w="12700">
            <a:solidFill>
              <a:srgbClr val="BFA87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3504" y="27340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60704" y="2651760"/>
            <a:ext cx="5943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Emissão pelo pedido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 a NFe a partir da venda registrada.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3504" y="3410712"/>
            <a:ext cx="310896" cy="310896"/>
          </a:xfrm>
          <a:prstGeom prst="ellipse">
            <a:avLst/>
          </a:prstGeom>
          <a:solidFill>
            <a:srgbClr val="FAF7F2"/>
          </a:solidFill>
          <a:ln w="12700">
            <a:solidFill>
              <a:srgbClr val="BFA87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504" y="34107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60704" y="3328416"/>
            <a:ext cx="5943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veja o status: emitida, rejeitada ou autorizada.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3504" y="4087368"/>
            <a:ext cx="310896" cy="310896"/>
          </a:xfrm>
          <a:prstGeom prst="ellipse">
            <a:avLst/>
          </a:prstGeom>
          <a:solidFill>
            <a:srgbClr val="FAF7F2"/>
          </a:solidFill>
          <a:ln w="12700">
            <a:solidFill>
              <a:srgbClr val="BFA87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3504" y="40873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60704" y="4005072"/>
            <a:ext cx="5943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Reemissão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corrija e reenvie notas rejeitadas.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3504" y="4764024"/>
            <a:ext cx="310896" cy="310896"/>
          </a:xfrm>
          <a:prstGeom prst="ellipse">
            <a:avLst/>
          </a:prstGeom>
          <a:solidFill>
            <a:srgbClr val="FAF7F2"/>
          </a:solidFill>
          <a:ln w="12700">
            <a:solidFill>
              <a:srgbClr val="BFA87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3504" y="47640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60704" y="4681728"/>
            <a:ext cx="5943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da empresa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configurados uma vez nas Configurações.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360920" y="1463040"/>
            <a:ext cx="4297680" cy="2240280"/>
          </a:xfrm>
          <a:prstGeom prst="rect">
            <a:avLst/>
          </a:prstGeom>
          <a:solidFill>
            <a:srgbClr val="FAF7F2"/>
          </a:solidFill>
          <a:ln w="12700">
            <a:solidFill>
              <a:srgbClr val="E5DCD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680960" y="1755648"/>
            <a:ext cx="868680" cy="868680"/>
          </a:xfrm>
          <a:prstGeom prst="ellipse">
            <a:avLst/>
          </a:prstGeom>
          <a:solidFill>
            <a:srgbClr val="A78B6D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190" y="1998878"/>
            <a:ext cx="382219" cy="382219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732520" y="1755648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NFE.io</a:t>
            </a:r>
            <a:endParaRPr lang="en-US" sz="2300" dirty="0"/>
          </a:p>
        </p:txBody>
      </p:sp>
      <p:sp>
        <p:nvSpPr>
          <p:cNvPr id="23" name="Text 19"/>
          <p:cNvSpPr/>
          <p:nvPr/>
        </p:nvSpPr>
        <p:spPr>
          <a:xfrm>
            <a:off x="7680960" y="27889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oficial para emissão da nota fiscal de produto.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7360920" y="3886200"/>
            <a:ext cx="4297680" cy="2057400"/>
          </a:xfrm>
          <a:prstGeom prst="rect">
            <a:avLst/>
          </a:prstGeom>
          <a:solidFill>
            <a:srgbClr val="1E1D1D"/>
          </a:solidFill>
          <a:ln/>
        </p:spPr>
      </p:sp>
      <p:sp>
        <p:nvSpPr>
          <p:cNvPr id="25" name="Shape 21"/>
          <p:cNvSpPr/>
          <p:nvPr/>
        </p:nvSpPr>
        <p:spPr>
          <a:xfrm>
            <a:off x="7653528" y="4114800"/>
            <a:ext cx="640080" cy="640080"/>
          </a:xfrm>
          <a:prstGeom prst="ellipse">
            <a:avLst/>
          </a:prstGeom>
          <a:solidFill>
            <a:srgbClr val="BFA87D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2750" y="4294022"/>
            <a:ext cx="281635" cy="281635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458200" y="4160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F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7680960" y="48006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2E1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emitir, confira CNPJ, endereço e itens. Nota rejeitada? O sistema mostra o motivo e permite reemitir.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A78B6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" y="654710"/>
            <a:ext cx="382219" cy="382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72768" y="62179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 &amp; Google Calendar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66928" y="1481328"/>
            <a:ext cx="6446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 visitas, medições, entregas e reuniões da equipe. Pode sincronizar com o Google Calendar.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03504" y="2734056"/>
            <a:ext cx="310896" cy="310896"/>
          </a:xfrm>
          <a:prstGeom prst="ellipse">
            <a:avLst/>
          </a:prstGeom>
          <a:solidFill>
            <a:srgbClr val="FAF7F2"/>
          </a:solidFill>
          <a:ln w="12700">
            <a:solidFill>
              <a:srgbClr val="BFA87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3504" y="27340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60704" y="2651760"/>
            <a:ext cx="5943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evento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título, data, horário e responsável.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3504" y="3410712"/>
            <a:ext cx="310896" cy="310896"/>
          </a:xfrm>
          <a:prstGeom prst="ellipse">
            <a:avLst/>
          </a:prstGeom>
          <a:solidFill>
            <a:srgbClr val="FAF7F2"/>
          </a:solidFill>
          <a:ln w="12700">
            <a:solidFill>
              <a:srgbClr val="BFA87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504" y="34107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60704" y="3328416"/>
            <a:ext cx="5943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Visões por período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dia, semana ou mês todo.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3504" y="4087368"/>
            <a:ext cx="310896" cy="310896"/>
          </a:xfrm>
          <a:prstGeom prst="ellipse">
            <a:avLst/>
          </a:prstGeom>
          <a:solidFill>
            <a:srgbClr val="FAF7F2"/>
          </a:solidFill>
          <a:ln w="12700">
            <a:solidFill>
              <a:srgbClr val="BFA87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3504" y="40873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60704" y="4005072"/>
            <a:ext cx="5943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ausência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folgas e indisponibilidades.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3504" y="4764024"/>
            <a:ext cx="310896" cy="310896"/>
          </a:xfrm>
          <a:prstGeom prst="ellipse">
            <a:avLst/>
          </a:prstGeom>
          <a:solidFill>
            <a:srgbClr val="FAF7F2"/>
          </a:solidFill>
          <a:ln w="12700">
            <a:solidFill>
              <a:srgbClr val="BFA87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3504" y="47640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60704" y="4681728"/>
            <a:ext cx="5943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Calendar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sincronize com sua agenda pessoal.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360920" y="1463040"/>
            <a:ext cx="4297680" cy="2240280"/>
          </a:xfrm>
          <a:prstGeom prst="rect">
            <a:avLst/>
          </a:prstGeom>
          <a:solidFill>
            <a:srgbClr val="FAF7F2"/>
          </a:solidFill>
          <a:ln w="12700">
            <a:solidFill>
              <a:srgbClr val="E5DCD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680960" y="1755648"/>
            <a:ext cx="868680" cy="868680"/>
          </a:xfrm>
          <a:prstGeom prst="ellipse">
            <a:avLst/>
          </a:prstGeom>
          <a:solidFill>
            <a:srgbClr val="A78B6D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190" y="1998878"/>
            <a:ext cx="382219" cy="382219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732520" y="1755648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 · Semana · Mês</a:t>
            </a:r>
            <a:endParaRPr lang="en-US" sz="2300" dirty="0"/>
          </a:p>
        </p:txBody>
      </p:sp>
      <p:sp>
        <p:nvSpPr>
          <p:cNvPr id="23" name="Text 19"/>
          <p:cNvSpPr/>
          <p:nvPr/>
        </p:nvSpPr>
        <p:spPr>
          <a:xfrm>
            <a:off x="7680960" y="27889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os compromissos no formato que preferir.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7360920" y="3886200"/>
            <a:ext cx="4297680" cy="2057400"/>
          </a:xfrm>
          <a:prstGeom prst="rect">
            <a:avLst/>
          </a:prstGeom>
          <a:solidFill>
            <a:srgbClr val="1E1D1D"/>
          </a:solidFill>
          <a:ln/>
        </p:spPr>
      </p:sp>
      <p:sp>
        <p:nvSpPr>
          <p:cNvPr id="25" name="Shape 21"/>
          <p:cNvSpPr/>
          <p:nvPr/>
        </p:nvSpPr>
        <p:spPr>
          <a:xfrm>
            <a:off x="7653528" y="4114800"/>
            <a:ext cx="640080" cy="640080"/>
          </a:xfrm>
          <a:prstGeom prst="ellipse">
            <a:avLst/>
          </a:prstGeom>
          <a:solidFill>
            <a:srgbClr val="BFA87D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2750" y="4294022"/>
            <a:ext cx="281635" cy="281635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458200" y="4160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F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7680960" y="48006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2E1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Cadastre visitas e entregas na hora em que são combinadas — assim ninguém perde compromisso e a equipe se organiza.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A78B6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" y="654710"/>
            <a:ext cx="382219" cy="382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72768" y="62179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66928" y="1481328"/>
            <a:ext cx="6446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 acompanha as metas de vendas da equipe, inclusive as metas de desconto de fábrica por semana do mês.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03504" y="2734056"/>
            <a:ext cx="310896" cy="310896"/>
          </a:xfrm>
          <a:prstGeom prst="ellipse">
            <a:avLst/>
          </a:prstGeom>
          <a:solidFill>
            <a:srgbClr val="FAF7F2"/>
          </a:solidFill>
          <a:ln w="12700">
            <a:solidFill>
              <a:srgbClr val="BFA87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3504" y="27340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60704" y="2651760"/>
            <a:ext cx="5943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por período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do mês e por semana (S1 a S4).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3504" y="3410712"/>
            <a:ext cx="310896" cy="310896"/>
          </a:xfrm>
          <a:prstGeom prst="ellipse">
            <a:avLst/>
          </a:prstGeom>
          <a:solidFill>
            <a:srgbClr val="FAF7F2"/>
          </a:solidFill>
          <a:ln w="12700">
            <a:solidFill>
              <a:srgbClr val="BFA87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504" y="34107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60704" y="3328416"/>
            <a:ext cx="5943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de desconto fábrica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acompanhe os percentuais por faixa.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3504" y="4087368"/>
            <a:ext cx="310896" cy="310896"/>
          </a:xfrm>
          <a:prstGeom prst="ellipse">
            <a:avLst/>
          </a:prstGeom>
          <a:solidFill>
            <a:srgbClr val="FAF7F2"/>
          </a:solidFill>
          <a:ln w="12700">
            <a:solidFill>
              <a:srgbClr val="BFA87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3504" y="40873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60704" y="4005072"/>
            <a:ext cx="5943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 realizado com o planejado.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3504" y="4764024"/>
            <a:ext cx="310896" cy="310896"/>
          </a:xfrm>
          <a:prstGeom prst="ellipse">
            <a:avLst/>
          </a:prstGeom>
          <a:solidFill>
            <a:srgbClr val="FAF7F2"/>
          </a:solidFill>
          <a:ln w="12700">
            <a:solidFill>
              <a:srgbClr val="BFA87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3504" y="47640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60704" y="4681728"/>
            <a:ext cx="5943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Salvar metas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os números a qualquer momento.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360920" y="1463040"/>
            <a:ext cx="4297680" cy="2240280"/>
          </a:xfrm>
          <a:prstGeom prst="rect">
            <a:avLst/>
          </a:prstGeom>
          <a:solidFill>
            <a:srgbClr val="FAF7F2"/>
          </a:solidFill>
          <a:ln w="12700">
            <a:solidFill>
              <a:srgbClr val="E5DCD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680960" y="1755648"/>
            <a:ext cx="868680" cy="868680"/>
          </a:xfrm>
          <a:prstGeom prst="ellipse">
            <a:avLst/>
          </a:prstGeom>
          <a:solidFill>
            <a:srgbClr val="A78B6D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190" y="1998878"/>
            <a:ext cx="382219" cy="382219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732520" y="1755648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S1 · S2 · S3 · S4</a:t>
            </a:r>
            <a:endParaRPr lang="en-US" sz="2300" dirty="0"/>
          </a:p>
        </p:txBody>
      </p:sp>
      <p:sp>
        <p:nvSpPr>
          <p:cNvPr id="23" name="Text 19"/>
          <p:cNvSpPr/>
          <p:nvPr/>
        </p:nvSpPr>
        <p:spPr>
          <a:xfrm>
            <a:off x="7680960" y="27889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semanal: 1-7, 8-14, 15-21, 22-fim.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7360920" y="3886200"/>
            <a:ext cx="4297680" cy="2057400"/>
          </a:xfrm>
          <a:prstGeom prst="rect">
            <a:avLst/>
          </a:prstGeom>
          <a:solidFill>
            <a:srgbClr val="1E1D1D"/>
          </a:solidFill>
          <a:ln/>
        </p:spPr>
      </p:sp>
      <p:sp>
        <p:nvSpPr>
          <p:cNvPr id="25" name="Shape 21"/>
          <p:cNvSpPr/>
          <p:nvPr/>
        </p:nvSpPr>
        <p:spPr>
          <a:xfrm>
            <a:off x="7653528" y="4114800"/>
            <a:ext cx="640080" cy="640080"/>
          </a:xfrm>
          <a:prstGeom prst="ellipse">
            <a:avLst/>
          </a:prstGeom>
          <a:solidFill>
            <a:srgbClr val="BFA87D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2750" y="4294022"/>
            <a:ext cx="281635" cy="281635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458200" y="4160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F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7680960" y="48006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2E1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as metas como bússola da semana: elas aparecem no Dashboard e ajudam todos a saber onde estão em relação ao objetivo.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A78B6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" y="654710"/>
            <a:ext cx="382219" cy="382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7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72768" y="62179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Comissões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66928" y="1481328"/>
            <a:ext cx="6446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e organiza as comissões dos vendedores com base nas vendas, em folhas por período.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03504" y="2734056"/>
            <a:ext cx="310896" cy="310896"/>
          </a:xfrm>
          <a:prstGeom prst="ellipse">
            <a:avLst/>
          </a:prstGeom>
          <a:solidFill>
            <a:srgbClr val="FAF7F2"/>
          </a:solidFill>
          <a:ln w="12700">
            <a:solidFill>
              <a:srgbClr val="BFA87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3504" y="27340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60704" y="2651760"/>
            <a:ext cx="5943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comissões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percentuais por faixa ou regra.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3504" y="3410712"/>
            <a:ext cx="310896" cy="310896"/>
          </a:xfrm>
          <a:prstGeom prst="ellipse">
            <a:avLst/>
          </a:prstGeom>
          <a:solidFill>
            <a:srgbClr val="FAF7F2"/>
          </a:solidFill>
          <a:ln w="12700">
            <a:solidFill>
              <a:srgbClr val="BFA87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504" y="34107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60704" y="3328416"/>
            <a:ext cx="5943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Folhas por período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e salve a folha do mês.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3504" y="4087368"/>
            <a:ext cx="310896" cy="310896"/>
          </a:xfrm>
          <a:prstGeom prst="ellipse">
            <a:avLst/>
          </a:prstGeom>
          <a:solidFill>
            <a:srgbClr val="FAF7F2"/>
          </a:solidFill>
          <a:ln w="12700">
            <a:solidFill>
              <a:srgbClr val="BFA87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3504" y="40873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60704" y="4005072"/>
            <a:ext cx="5943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Lançar comissão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vendas e ajustes manuais.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3504" y="4764024"/>
            <a:ext cx="310896" cy="310896"/>
          </a:xfrm>
          <a:prstGeom prst="ellipse">
            <a:avLst/>
          </a:prstGeom>
          <a:solidFill>
            <a:srgbClr val="FAF7F2"/>
          </a:solidFill>
          <a:ln w="12700">
            <a:solidFill>
              <a:srgbClr val="BFA87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3504" y="47640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60704" y="4681728"/>
            <a:ext cx="5943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vendedor acompanha o que recebe.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360920" y="1463040"/>
            <a:ext cx="4297680" cy="2240280"/>
          </a:xfrm>
          <a:prstGeom prst="rect">
            <a:avLst/>
          </a:prstGeom>
          <a:solidFill>
            <a:srgbClr val="FAF7F2"/>
          </a:solidFill>
          <a:ln w="12700">
            <a:solidFill>
              <a:srgbClr val="E5DCD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680960" y="1755648"/>
            <a:ext cx="868680" cy="868680"/>
          </a:xfrm>
          <a:prstGeom prst="ellipse">
            <a:avLst/>
          </a:prstGeom>
          <a:solidFill>
            <a:srgbClr val="A78B6D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190" y="1998878"/>
            <a:ext cx="382219" cy="382219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732520" y="1755648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Folha do mês</a:t>
            </a:r>
            <a:endParaRPr lang="en-US" sz="2300" dirty="0"/>
          </a:p>
        </p:txBody>
      </p:sp>
      <p:sp>
        <p:nvSpPr>
          <p:cNvPr id="23" name="Text 19"/>
          <p:cNvSpPr/>
          <p:nvPr/>
        </p:nvSpPr>
        <p:spPr>
          <a:xfrm>
            <a:off x="7680960" y="27889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 a folha, confira e salve para fechamento.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7360920" y="3886200"/>
            <a:ext cx="4297680" cy="2057400"/>
          </a:xfrm>
          <a:prstGeom prst="rect">
            <a:avLst/>
          </a:prstGeom>
          <a:solidFill>
            <a:srgbClr val="1E1D1D"/>
          </a:solidFill>
          <a:ln/>
        </p:spPr>
      </p:sp>
      <p:sp>
        <p:nvSpPr>
          <p:cNvPr id="25" name="Shape 21"/>
          <p:cNvSpPr/>
          <p:nvPr/>
        </p:nvSpPr>
        <p:spPr>
          <a:xfrm>
            <a:off x="7653528" y="4114800"/>
            <a:ext cx="640080" cy="640080"/>
          </a:xfrm>
          <a:prstGeom prst="ellipse">
            <a:avLst/>
          </a:prstGeom>
          <a:solidFill>
            <a:srgbClr val="BFA87D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2750" y="4294022"/>
            <a:ext cx="281635" cy="281635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458200" y="4160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F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7680960" y="48006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2E1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Mantenha a tabela de comissões revisada. Como ela vem dos pedidos, um pedido correto evita ajustes manuais depois.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A78B6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" y="654710"/>
            <a:ext cx="382219" cy="382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8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72768" y="62179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Cadastros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66928" y="1481328"/>
            <a:ext cx="6446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 o cadastro de clientes, equipe e prestadores. Boa parte do sistema depende destes dados.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03504" y="2734056"/>
            <a:ext cx="310896" cy="310896"/>
          </a:xfrm>
          <a:prstGeom prst="ellipse">
            <a:avLst/>
          </a:prstGeom>
          <a:solidFill>
            <a:srgbClr val="FAF7F2"/>
          </a:solidFill>
          <a:ln w="12700">
            <a:solidFill>
              <a:srgbClr val="BFA87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3504" y="27340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60704" y="2651760"/>
            <a:ext cx="5943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completos, com busca de endereço por CEP.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3504" y="3410712"/>
            <a:ext cx="310896" cy="310896"/>
          </a:xfrm>
          <a:prstGeom prst="ellipse">
            <a:avLst/>
          </a:prstGeom>
          <a:solidFill>
            <a:srgbClr val="FAF7F2"/>
          </a:solidFill>
          <a:ln w="12700">
            <a:solidFill>
              <a:srgbClr val="BFA87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504" y="34107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60704" y="3328416"/>
            <a:ext cx="5943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e prestadores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cargos, áreas e contatos.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3504" y="4087368"/>
            <a:ext cx="310896" cy="310896"/>
          </a:xfrm>
          <a:prstGeom prst="ellipse">
            <a:avLst/>
          </a:prstGeom>
          <a:solidFill>
            <a:srgbClr val="FAF7F2"/>
          </a:solidFill>
          <a:ln w="12700">
            <a:solidFill>
              <a:srgbClr val="BFA87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3504" y="40873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60704" y="4005072"/>
            <a:ext cx="5943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Preenchimento por CEP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endereço automático via ViaCEP.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3504" y="4764024"/>
            <a:ext cx="310896" cy="310896"/>
          </a:xfrm>
          <a:prstGeom prst="ellipse">
            <a:avLst/>
          </a:prstGeom>
          <a:solidFill>
            <a:srgbClr val="FAF7F2"/>
          </a:solidFill>
          <a:ln w="12700">
            <a:solidFill>
              <a:srgbClr val="BFA87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3504" y="47640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60704" y="4681728"/>
            <a:ext cx="5943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única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mesmos dados usados em pedidos e notas.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360920" y="1463040"/>
            <a:ext cx="4297680" cy="2240280"/>
          </a:xfrm>
          <a:prstGeom prst="rect">
            <a:avLst/>
          </a:prstGeom>
          <a:solidFill>
            <a:srgbClr val="FAF7F2"/>
          </a:solidFill>
          <a:ln w="12700">
            <a:solidFill>
              <a:srgbClr val="E5DCD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680960" y="1755648"/>
            <a:ext cx="868680" cy="868680"/>
          </a:xfrm>
          <a:prstGeom prst="ellipse">
            <a:avLst/>
          </a:prstGeom>
          <a:solidFill>
            <a:srgbClr val="A78B6D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190" y="1998878"/>
            <a:ext cx="382219" cy="382219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732520" y="1755648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 de dados</a:t>
            </a:r>
            <a:endParaRPr lang="en-US" sz="2300" dirty="0"/>
          </a:p>
        </p:txBody>
      </p:sp>
      <p:sp>
        <p:nvSpPr>
          <p:cNvPr id="23" name="Text 19"/>
          <p:cNvSpPr/>
          <p:nvPr/>
        </p:nvSpPr>
        <p:spPr>
          <a:xfrm>
            <a:off x="7680960" y="27889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bem feito = menos erro no resto do sistema.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7360920" y="3886200"/>
            <a:ext cx="4297680" cy="2057400"/>
          </a:xfrm>
          <a:prstGeom prst="rect">
            <a:avLst/>
          </a:prstGeom>
          <a:solidFill>
            <a:srgbClr val="1E1D1D"/>
          </a:solidFill>
          <a:ln/>
        </p:spPr>
      </p:sp>
      <p:sp>
        <p:nvSpPr>
          <p:cNvPr id="25" name="Shape 21"/>
          <p:cNvSpPr/>
          <p:nvPr/>
        </p:nvSpPr>
        <p:spPr>
          <a:xfrm>
            <a:off x="7653528" y="4114800"/>
            <a:ext cx="640080" cy="640080"/>
          </a:xfrm>
          <a:prstGeom prst="ellipse">
            <a:avLst/>
          </a:prstGeom>
          <a:solidFill>
            <a:srgbClr val="BFA87D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2750" y="4294022"/>
            <a:ext cx="281635" cy="281635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458200" y="4160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F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7680960" y="48006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2E1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Digite o CEP e deixe o sistema preencher o endereço. Confira nome e documento — eles vão direto para a nota fiscal.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A78B6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" y="654710"/>
            <a:ext cx="382219" cy="382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9 E 10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72768" y="62179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Financeiro &amp; Pagamentos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66928" y="1481328"/>
            <a:ext cx="6446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entradas e saídas, contas a pagar, parcelas e os meios de pagamento aceitos, como cartão de crédito e financiamento.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03504" y="2734056"/>
            <a:ext cx="310896" cy="310896"/>
          </a:xfrm>
          <a:prstGeom prst="ellipse">
            <a:avLst/>
          </a:prstGeom>
          <a:solidFill>
            <a:srgbClr val="FAF7F2"/>
          </a:solidFill>
          <a:ln w="12700">
            <a:solidFill>
              <a:srgbClr val="BFA87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3504" y="27340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60704" y="2651760"/>
            <a:ext cx="5943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Lançamentos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receitas e despesas manualmente.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3504" y="3410712"/>
            <a:ext cx="310896" cy="310896"/>
          </a:xfrm>
          <a:prstGeom prst="ellipse">
            <a:avLst/>
          </a:prstGeom>
          <a:solidFill>
            <a:srgbClr val="FAF7F2"/>
          </a:solidFill>
          <a:ln w="12700">
            <a:solidFill>
              <a:srgbClr val="BFA87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504" y="34107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60704" y="3328416"/>
            <a:ext cx="5943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Contas a pagar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parcelas e vencimentos organizados.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3504" y="4087368"/>
            <a:ext cx="310896" cy="310896"/>
          </a:xfrm>
          <a:prstGeom prst="ellipse">
            <a:avLst/>
          </a:prstGeom>
          <a:solidFill>
            <a:srgbClr val="FAF7F2"/>
          </a:solidFill>
          <a:ln w="12700">
            <a:solidFill>
              <a:srgbClr val="BFA87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3504" y="40873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60704" y="4005072"/>
            <a:ext cx="5943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Meios de pagamento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cartão de crédito e financiamento.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3504" y="4764024"/>
            <a:ext cx="310896" cy="310896"/>
          </a:xfrm>
          <a:prstGeom prst="ellipse">
            <a:avLst/>
          </a:prstGeom>
          <a:solidFill>
            <a:srgbClr val="FAF7F2"/>
          </a:solidFill>
          <a:ln w="12700">
            <a:solidFill>
              <a:srgbClr val="BFA87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3504" y="47640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60704" y="4681728"/>
            <a:ext cx="5943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de caixa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saiba o que entra e o que sai.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360920" y="1463040"/>
            <a:ext cx="4297680" cy="2240280"/>
          </a:xfrm>
          <a:prstGeom prst="rect">
            <a:avLst/>
          </a:prstGeom>
          <a:solidFill>
            <a:srgbClr val="FAF7F2"/>
          </a:solidFill>
          <a:ln w="12700">
            <a:solidFill>
              <a:srgbClr val="E5DCD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680960" y="1755648"/>
            <a:ext cx="868680" cy="868680"/>
          </a:xfrm>
          <a:prstGeom prst="ellipse">
            <a:avLst/>
          </a:prstGeom>
          <a:solidFill>
            <a:srgbClr val="A78B6D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190" y="1998878"/>
            <a:ext cx="382219" cy="382219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732520" y="1755648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Entradas e saídas</a:t>
            </a:r>
            <a:endParaRPr lang="en-US" sz="2300" dirty="0"/>
          </a:p>
        </p:txBody>
      </p:sp>
      <p:sp>
        <p:nvSpPr>
          <p:cNvPr id="23" name="Text 19"/>
          <p:cNvSpPr/>
          <p:nvPr/>
        </p:nvSpPr>
        <p:spPr>
          <a:xfrm>
            <a:off x="7680960" y="27889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Cartão de crédito e financiamento configuráveis.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7360920" y="3886200"/>
            <a:ext cx="4297680" cy="2057400"/>
          </a:xfrm>
          <a:prstGeom prst="rect">
            <a:avLst/>
          </a:prstGeom>
          <a:solidFill>
            <a:srgbClr val="1E1D1D"/>
          </a:solidFill>
          <a:ln/>
        </p:spPr>
      </p:sp>
      <p:sp>
        <p:nvSpPr>
          <p:cNvPr id="25" name="Shape 21"/>
          <p:cNvSpPr/>
          <p:nvPr/>
        </p:nvSpPr>
        <p:spPr>
          <a:xfrm>
            <a:off x="7653528" y="4114800"/>
            <a:ext cx="640080" cy="640080"/>
          </a:xfrm>
          <a:prstGeom prst="ellipse">
            <a:avLst/>
          </a:prstGeom>
          <a:solidFill>
            <a:srgbClr val="BFA87D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2750" y="4294022"/>
            <a:ext cx="281635" cy="281635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458200" y="4160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F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7680960" y="48006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2E1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 contas a pagar assim que surgirem, com a data de vencimento. Assim o financeiro nunca é pego de surpresa.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A78B6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" y="654710"/>
            <a:ext cx="382219" cy="382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72768" y="62179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Relatórios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66928" y="1481328"/>
            <a:ext cx="6446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Reúne os números do sistema em visões prontas para análise e decisão — vendas, metas, comissões e financeiro.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03504" y="2734056"/>
            <a:ext cx="310896" cy="310896"/>
          </a:xfrm>
          <a:prstGeom prst="ellipse">
            <a:avLst/>
          </a:prstGeom>
          <a:solidFill>
            <a:srgbClr val="FAF7F2"/>
          </a:solidFill>
          <a:ln w="12700">
            <a:solidFill>
              <a:srgbClr val="BFA87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3504" y="27340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60704" y="2651760"/>
            <a:ext cx="5943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por período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 60, 90 dias ou intervalo livre.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3504" y="3410712"/>
            <a:ext cx="310896" cy="310896"/>
          </a:xfrm>
          <a:prstGeom prst="ellipse">
            <a:avLst/>
          </a:prstGeom>
          <a:solidFill>
            <a:srgbClr val="FAF7F2"/>
          </a:solidFill>
          <a:ln w="12700">
            <a:solidFill>
              <a:srgbClr val="BFA87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504" y="34107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60704" y="3328416"/>
            <a:ext cx="5943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 e conversão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 do funil e da equipe.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3504" y="4087368"/>
            <a:ext cx="310896" cy="310896"/>
          </a:xfrm>
          <a:prstGeom prst="ellipse">
            <a:avLst/>
          </a:prstGeom>
          <a:solidFill>
            <a:srgbClr val="FAF7F2"/>
          </a:solidFill>
          <a:ln w="12700">
            <a:solidFill>
              <a:srgbClr val="BFA87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3504" y="40873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60704" y="4005072"/>
            <a:ext cx="5943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os dados para reuniões e fechamentos.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3504" y="4764024"/>
            <a:ext cx="310896" cy="310896"/>
          </a:xfrm>
          <a:prstGeom prst="ellipse">
            <a:avLst/>
          </a:prstGeom>
          <a:solidFill>
            <a:srgbClr val="FAF7F2"/>
          </a:solidFill>
          <a:ln w="12700">
            <a:solidFill>
              <a:srgbClr val="BFA87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3504" y="47640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60704" y="4681728"/>
            <a:ext cx="5943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nos lançamentos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sempre ligados ao que foi registrado.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360920" y="1463040"/>
            <a:ext cx="4297680" cy="2240280"/>
          </a:xfrm>
          <a:prstGeom prst="rect">
            <a:avLst/>
          </a:prstGeom>
          <a:solidFill>
            <a:srgbClr val="FAF7F2"/>
          </a:solidFill>
          <a:ln w="12700">
            <a:solidFill>
              <a:srgbClr val="E5DCD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680960" y="1755648"/>
            <a:ext cx="868680" cy="868680"/>
          </a:xfrm>
          <a:prstGeom prst="ellipse">
            <a:avLst/>
          </a:prstGeom>
          <a:solidFill>
            <a:srgbClr val="A78B6D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190" y="1998878"/>
            <a:ext cx="382219" cy="382219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732520" y="1755648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· 60 · 90 dias</a:t>
            </a:r>
            <a:endParaRPr lang="en-US" sz="2300" dirty="0"/>
          </a:p>
        </p:txBody>
      </p:sp>
      <p:sp>
        <p:nvSpPr>
          <p:cNvPr id="23" name="Text 19"/>
          <p:cNvSpPr/>
          <p:nvPr/>
        </p:nvSpPr>
        <p:spPr>
          <a:xfrm>
            <a:off x="7680960" y="27889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o período e leia os resultados rapidamente.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7360920" y="3886200"/>
            <a:ext cx="4297680" cy="2057400"/>
          </a:xfrm>
          <a:prstGeom prst="rect">
            <a:avLst/>
          </a:prstGeom>
          <a:solidFill>
            <a:srgbClr val="1E1D1D"/>
          </a:solidFill>
          <a:ln/>
        </p:spPr>
      </p:sp>
      <p:sp>
        <p:nvSpPr>
          <p:cNvPr id="25" name="Shape 21"/>
          <p:cNvSpPr/>
          <p:nvPr/>
        </p:nvSpPr>
        <p:spPr>
          <a:xfrm>
            <a:off x="7653528" y="4114800"/>
            <a:ext cx="640080" cy="640080"/>
          </a:xfrm>
          <a:prstGeom prst="ellipse">
            <a:avLst/>
          </a:prstGeom>
          <a:solidFill>
            <a:srgbClr val="BFA87D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2750" y="4294022"/>
            <a:ext cx="281635" cy="281635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458200" y="4160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F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7680960" y="48006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2E1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relatórios só são confiáveis se CRM, pedidos e financeiro estiverem em dia. Registro consistente = relatório confiável.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A78B6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" y="654710"/>
            <a:ext cx="382219" cy="382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12 E 13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72768" y="62179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Repositório &amp; Treinamentos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66928" y="1481328"/>
            <a:ext cx="6446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Repositório guarda arquivos e documentos da empresa. Os Treinamentos reúnem conteúdos para capacitar a equipe.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03504" y="2734056"/>
            <a:ext cx="310896" cy="310896"/>
          </a:xfrm>
          <a:prstGeom prst="ellipse">
            <a:avLst/>
          </a:prstGeom>
          <a:solidFill>
            <a:srgbClr val="FAF7F2"/>
          </a:solidFill>
          <a:ln w="12700">
            <a:solidFill>
              <a:srgbClr val="BFA87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3504" y="27340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60704" y="2651760"/>
            <a:ext cx="5943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da empresa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contratos, modelos e materiais num só lugar.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3504" y="3410712"/>
            <a:ext cx="310896" cy="310896"/>
          </a:xfrm>
          <a:prstGeom prst="ellipse">
            <a:avLst/>
          </a:prstGeom>
          <a:solidFill>
            <a:srgbClr val="FAF7F2"/>
          </a:solidFill>
          <a:ln w="12700">
            <a:solidFill>
              <a:srgbClr val="BFA87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504" y="34107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60704" y="3328416"/>
            <a:ext cx="5943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acessível para quem tem permissão.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3504" y="4087368"/>
            <a:ext cx="310896" cy="310896"/>
          </a:xfrm>
          <a:prstGeom prst="ellipse">
            <a:avLst/>
          </a:prstGeom>
          <a:solidFill>
            <a:srgbClr val="FAF7F2"/>
          </a:solidFill>
          <a:ln w="12700">
            <a:solidFill>
              <a:srgbClr val="BFA87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3504" y="40873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60704" y="4005072"/>
            <a:ext cx="5943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Treinamentos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cadastre e acompanhe capacitações.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3504" y="4764024"/>
            <a:ext cx="310896" cy="310896"/>
          </a:xfrm>
          <a:prstGeom prst="ellipse">
            <a:avLst/>
          </a:prstGeom>
          <a:solidFill>
            <a:srgbClr val="FAF7F2"/>
          </a:solidFill>
          <a:ln w="12700">
            <a:solidFill>
              <a:srgbClr val="BFA87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3504" y="47640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60704" y="4681728"/>
            <a:ext cx="5943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treinamento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conteúdos para a equipe.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360920" y="1463040"/>
            <a:ext cx="4297680" cy="2240280"/>
          </a:xfrm>
          <a:prstGeom prst="rect">
            <a:avLst/>
          </a:prstGeom>
          <a:solidFill>
            <a:srgbClr val="FAF7F2"/>
          </a:solidFill>
          <a:ln w="12700">
            <a:solidFill>
              <a:srgbClr val="E5DCD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680960" y="1755648"/>
            <a:ext cx="868680" cy="868680"/>
          </a:xfrm>
          <a:prstGeom prst="ellipse">
            <a:avLst/>
          </a:prstGeom>
          <a:solidFill>
            <a:srgbClr val="A78B6D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190" y="1998878"/>
            <a:ext cx="382219" cy="382219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732520" y="1755648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Conhecimento</a:t>
            </a:r>
            <a:endParaRPr lang="en-US" sz="2300" dirty="0"/>
          </a:p>
        </p:txBody>
      </p:sp>
      <p:sp>
        <p:nvSpPr>
          <p:cNvPr id="23" name="Text 19"/>
          <p:cNvSpPr/>
          <p:nvPr/>
        </p:nvSpPr>
        <p:spPr>
          <a:xfrm>
            <a:off x="7680960" y="27889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e capacitação centralizados e sempre à mão.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7360920" y="3886200"/>
            <a:ext cx="4297680" cy="2057400"/>
          </a:xfrm>
          <a:prstGeom prst="rect">
            <a:avLst/>
          </a:prstGeom>
          <a:solidFill>
            <a:srgbClr val="1E1D1D"/>
          </a:solidFill>
          <a:ln/>
        </p:spPr>
      </p:sp>
      <p:sp>
        <p:nvSpPr>
          <p:cNvPr id="25" name="Shape 21"/>
          <p:cNvSpPr/>
          <p:nvPr/>
        </p:nvSpPr>
        <p:spPr>
          <a:xfrm>
            <a:off x="7653528" y="4114800"/>
            <a:ext cx="640080" cy="640080"/>
          </a:xfrm>
          <a:prstGeom prst="ellipse">
            <a:avLst/>
          </a:prstGeom>
          <a:solidFill>
            <a:srgbClr val="BFA87D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2750" y="4294022"/>
            <a:ext cx="281635" cy="281635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458200" y="4160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F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7680960" y="48006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2E1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procurar um arquivo no e-mail ou no WhatsApp, confira o Repositório — provavelmente já está lá, na versão certa.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A78B6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" y="654710"/>
            <a:ext cx="382219" cy="382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72768" y="62179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Configurações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66928" y="1481328"/>
            <a:ext cx="6446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do gestor para ajustar o sistema: dados da empresa, credenciais, integrações e backup. Define como tudo funciona.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03504" y="2734056"/>
            <a:ext cx="310896" cy="310896"/>
          </a:xfrm>
          <a:prstGeom prst="ellipse">
            <a:avLst/>
          </a:prstGeom>
          <a:solidFill>
            <a:srgbClr val="FAF7F2"/>
          </a:solidFill>
          <a:ln w="12700">
            <a:solidFill>
              <a:srgbClr val="BFA87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3504" y="27340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60704" y="2651760"/>
            <a:ext cx="5943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da empresa e fábrica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informações usadas em notas e contratos.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3504" y="3410712"/>
            <a:ext cx="310896" cy="310896"/>
          </a:xfrm>
          <a:prstGeom prst="ellipse">
            <a:avLst/>
          </a:prstGeom>
          <a:solidFill>
            <a:srgbClr val="FAF7F2"/>
          </a:solidFill>
          <a:ln w="12700">
            <a:solidFill>
              <a:srgbClr val="BFA87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504" y="34107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60704" y="3328416"/>
            <a:ext cx="5943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Credenciais e integrações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NFe, Google Calendar e meios de pagamento.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3504" y="4087368"/>
            <a:ext cx="310896" cy="310896"/>
          </a:xfrm>
          <a:prstGeom prst="ellipse">
            <a:avLst/>
          </a:prstGeom>
          <a:solidFill>
            <a:srgbClr val="FAF7F2"/>
          </a:solidFill>
          <a:ln w="12700">
            <a:solidFill>
              <a:srgbClr val="BFA87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3504" y="40873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60704" y="4005072"/>
            <a:ext cx="5943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de contrato e logo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padronize documentos e a marca.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3504" y="4764024"/>
            <a:ext cx="310896" cy="310896"/>
          </a:xfrm>
          <a:prstGeom prst="ellipse">
            <a:avLst/>
          </a:prstGeom>
          <a:solidFill>
            <a:srgbClr val="FAF7F2"/>
          </a:solidFill>
          <a:ln w="12700">
            <a:solidFill>
              <a:srgbClr val="BFA87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3504" y="47640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60704" y="4681728"/>
            <a:ext cx="5943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de dados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 e restaure as informações.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360920" y="1463040"/>
            <a:ext cx="4297680" cy="2240280"/>
          </a:xfrm>
          <a:prstGeom prst="rect">
            <a:avLst/>
          </a:prstGeom>
          <a:solidFill>
            <a:srgbClr val="FAF7F2"/>
          </a:solidFill>
          <a:ln w="12700">
            <a:solidFill>
              <a:srgbClr val="E5DCD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680960" y="1755648"/>
            <a:ext cx="868680" cy="868680"/>
          </a:xfrm>
          <a:prstGeom prst="ellipse">
            <a:avLst/>
          </a:prstGeom>
          <a:solidFill>
            <a:srgbClr val="A78B6D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190" y="1998878"/>
            <a:ext cx="382219" cy="382219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732520" y="1755648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Painel do gestor</a:t>
            </a:r>
            <a:endParaRPr lang="en-US" sz="2300" dirty="0"/>
          </a:p>
        </p:txBody>
      </p:sp>
      <p:sp>
        <p:nvSpPr>
          <p:cNvPr id="23" name="Text 19"/>
          <p:cNvSpPr/>
          <p:nvPr/>
        </p:nvSpPr>
        <p:spPr>
          <a:xfrm>
            <a:off x="7680960" y="27889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controle do sistema — geralmente só o gestor acessa.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7360920" y="3886200"/>
            <a:ext cx="4297680" cy="2057400"/>
          </a:xfrm>
          <a:prstGeom prst="rect">
            <a:avLst/>
          </a:prstGeom>
          <a:solidFill>
            <a:srgbClr val="1E1D1D"/>
          </a:solidFill>
          <a:ln/>
        </p:spPr>
      </p:sp>
      <p:sp>
        <p:nvSpPr>
          <p:cNvPr id="25" name="Shape 21"/>
          <p:cNvSpPr/>
          <p:nvPr/>
        </p:nvSpPr>
        <p:spPr>
          <a:xfrm>
            <a:off x="7653528" y="4114800"/>
            <a:ext cx="640080" cy="640080"/>
          </a:xfrm>
          <a:prstGeom prst="ellipse">
            <a:avLst/>
          </a:prstGeom>
          <a:solidFill>
            <a:srgbClr val="BFA87D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2750" y="4294022"/>
            <a:ext cx="281635" cy="281635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458200" y="4160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F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7680960" y="48006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2E1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Faça backup com frequência (Backup de Dados). É a sua garantia para nunca perder informação importante.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A78B6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" y="654710"/>
            <a:ext cx="382219" cy="382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TODA A EQUIPE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72768" y="62179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Boas práticas no dia a dia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13436" y="1645920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D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69468" y="1920240"/>
            <a:ext cx="658368" cy="658368"/>
          </a:xfrm>
          <a:prstGeom prst="ellipse">
            <a:avLst/>
          </a:prstGeom>
          <a:solidFill>
            <a:srgbClr val="A78B6D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811" y="2104583"/>
            <a:ext cx="289682" cy="28968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64996" y="192024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na hora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787756" y="26517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Lançou venda, visita ou conta? Anote na hora. Informação fresca é informação correta.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289908" y="1645920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D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45940" y="1920240"/>
            <a:ext cx="658368" cy="658368"/>
          </a:xfrm>
          <a:prstGeom prst="ellipse">
            <a:avLst/>
          </a:prstGeom>
          <a:solidFill>
            <a:srgbClr val="1E1D1D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0283" y="2104583"/>
            <a:ext cx="289682" cy="28968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41468" y="192024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se conecta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4564228" y="26517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→ pedido → nota → comissão → financeiro. Um dado errado no início afeta toda a cadeia.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066380" y="1645920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D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322412" y="1920240"/>
            <a:ext cx="658368" cy="658368"/>
          </a:xfrm>
          <a:prstGeom prst="ellipse">
            <a:avLst/>
          </a:prstGeom>
          <a:solidFill>
            <a:srgbClr val="A78B6D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6755" y="2104583"/>
            <a:ext cx="289682" cy="28968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17940" y="192024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Cuide do seu acesso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8340700" y="26517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é pessoal. Saia do sistema em máquinas compartilhadas.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13436" y="3630168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D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69468" y="3904488"/>
            <a:ext cx="658368" cy="658368"/>
          </a:xfrm>
          <a:prstGeom prst="ellipse">
            <a:avLst/>
          </a:prstGeom>
          <a:solidFill>
            <a:srgbClr val="1E1D1D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811" y="4088831"/>
            <a:ext cx="289682" cy="28968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564996" y="3904488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Mantenha atualizado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787756" y="463600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Funil e agenda em dia deixam o Dashboard e os relatórios confiáveis.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4289908" y="3630168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D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545940" y="3904488"/>
            <a:ext cx="658368" cy="658368"/>
          </a:xfrm>
          <a:prstGeom prst="ellipse">
            <a:avLst/>
          </a:prstGeom>
          <a:solidFill>
            <a:srgbClr val="A78B6D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0283" y="4088831"/>
            <a:ext cx="289682" cy="28968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341468" y="3904488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é segurança</a:t>
            </a:r>
            <a:endParaRPr lang="en-US" sz="1350" dirty="0"/>
          </a:p>
        </p:txBody>
      </p:sp>
      <p:sp>
        <p:nvSpPr>
          <p:cNvPr id="30" name="Text 22"/>
          <p:cNvSpPr/>
          <p:nvPr/>
        </p:nvSpPr>
        <p:spPr>
          <a:xfrm>
            <a:off x="4564228" y="463600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gestor exporta backups com frequência para proteger os dados.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8066380" y="3630168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D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322412" y="3904488"/>
            <a:ext cx="658368" cy="658368"/>
          </a:xfrm>
          <a:prstGeom prst="ellipse">
            <a:avLst/>
          </a:prstGeom>
          <a:solidFill>
            <a:srgbClr val="1E1D1D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6755" y="4088831"/>
            <a:ext cx="289682" cy="28968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117940" y="3904488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dúvida, pergunte</a:t>
            </a:r>
            <a:endParaRPr lang="en-US" sz="1350" dirty="0"/>
          </a:p>
        </p:txBody>
      </p:sp>
      <p:sp>
        <p:nvSpPr>
          <p:cNvPr id="35" name="Text 26"/>
          <p:cNvSpPr/>
          <p:nvPr/>
        </p:nvSpPr>
        <p:spPr>
          <a:xfrm>
            <a:off x="8340700" y="463600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73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sabe onde registrar algo? Fale com o gestor antes de improvisar.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78B6D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4572000"/>
            <a:ext cx="640080" cy="640080"/>
          </a:xfrm>
          <a:prstGeom prst="rect">
            <a:avLst/>
          </a:prstGeom>
          <a:ln w="9525">
            <a:solidFill>
              <a:srgbClr val="BFA87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4572000"/>
            <a:ext cx="640080" cy="640080"/>
          </a:xfrm>
          <a:prstGeom prst="rect">
            <a:avLst/>
          </a:prstGeom>
          <a:ln w="9525">
            <a:solidFill>
              <a:srgbClr val="BFA87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47120" y="4572000"/>
            <a:ext cx="640080" cy="640080"/>
          </a:xfrm>
          <a:prstGeom prst="rect">
            <a:avLst/>
          </a:prstGeom>
          <a:ln w="9525">
            <a:solidFill>
              <a:srgbClr val="BFA8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0" y="5440680"/>
            <a:ext cx="640080" cy="640080"/>
          </a:xfrm>
          <a:prstGeom prst="rect">
            <a:avLst/>
          </a:prstGeom>
          <a:ln w="9525">
            <a:solidFill>
              <a:srgbClr val="BFA87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78440" y="5440680"/>
            <a:ext cx="640080" cy="640080"/>
          </a:xfrm>
          <a:prstGeom prst="rect">
            <a:avLst/>
          </a:prstGeom>
          <a:ln w="9525">
            <a:solidFill>
              <a:srgbClr val="BFA87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47120" y="5440680"/>
            <a:ext cx="640080" cy="640080"/>
          </a:xfrm>
          <a:prstGeom prst="rect">
            <a:avLst/>
          </a:prstGeom>
          <a:ln w="9525">
            <a:solidFill>
              <a:srgbClr val="BFA87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011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F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SÓ SISTEMA, TODA A OPERAÇÃO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Bom trabalho com o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 Casa Villare</a:t>
            </a:r>
            <a:endParaRPr lang="en-US" sz="4400" dirty="0"/>
          </a:p>
        </p:txBody>
      </p:sp>
      <p:sp>
        <p:nvSpPr>
          <p:cNvPr id="11" name="Shape 9"/>
          <p:cNvSpPr/>
          <p:nvPr/>
        </p:nvSpPr>
        <p:spPr>
          <a:xfrm>
            <a:off x="841248" y="4160520"/>
            <a:ext cx="2926080" cy="0"/>
          </a:xfrm>
          <a:prstGeom prst="line">
            <a:avLst/>
          </a:prstGeom>
          <a:noFill/>
          <a:ln w="25400">
            <a:solidFill>
              <a:srgbClr val="A78B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3434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2E1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Dúvidas? Fale com o gestor. Quanto mais a equipe usa o sistema, melhores ficam os resultados de todos.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Gestão Casa Villare — Guia de Uso</dc:title>
  <dc:subject>PptxGenJS Presentation</dc:subject>
  <dc:creator>Casa Villare</dc:creator>
  <cp:lastModifiedBy>Casa Villare</cp:lastModifiedBy>
  <cp:revision>1</cp:revision>
  <dcterms:created xsi:type="dcterms:W3CDTF">2026-06-18T22:36:44Z</dcterms:created>
  <dcterms:modified xsi:type="dcterms:W3CDTF">2026-06-18T22:36:44Z</dcterms:modified>
</cp:coreProperties>
</file>